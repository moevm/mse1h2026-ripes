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54455"/>
            <a:ext cx="9144000" cy="1077595"/>
          </a:xfrm>
        </p:spPr>
        <p:txBody>
          <a:bodyPr>
            <a:normAutofit fontScale="90000"/>
          </a:bodyPr>
          <a:lstStyle/>
          <a:p>
            <a:r>
              <a:rPr lang="en-US">
                <a:latin typeface="+mn-lt"/>
                <a:cs typeface="+mn-lt"/>
              </a:rPr>
              <a:t>Ripes - </a:t>
            </a:r>
            <a:r>
              <a:rPr lang="ru-RU">
                <a:latin typeface="+mn-lt"/>
                <a:cs typeface="+mn-lt"/>
              </a:rPr>
              <a:t>Итерация 1</a:t>
            </a:r>
            <a:endParaRPr lang="ru-RU">
              <a:latin typeface="+mn-lt"/>
              <a:cs typeface="+mn-lt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9144635" cy="2523490"/>
          </a:xfrm>
        </p:spPr>
        <p:txBody>
          <a:bodyPr>
            <a:noAutofit/>
          </a:bodyPr>
          <a:lstStyle/>
          <a:p>
            <a:pPr algn="r"/>
            <a:r>
              <a:rPr lang="en-US" altLang="en-US" sz="1800">
                <a:solidFill>
                  <a:schemeClr val="tx1"/>
                </a:solidFill>
                <a:latin typeface="+mn-lt"/>
                <a:cs typeface="+mn-lt"/>
              </a:rPr>
              <a:t>Галкин</a:t>
            </a:r>
            <a:r>
              <a:rPr lang="en-US" altLang="ru-RU" sz="1800">
                <a:solidFill>
                  <a:schemeClr val="tx1"/>
                </a:solidFill>
                <a:latin typeface="+mn-lt"/>
                <a:cs typeface="+mn-lt"/>
              </a:rPr>
              <a:t> </a:t>
            </a:r>
            <a:r>
              <a:rPr lang="en-US" altLang="en-US" sz="1800">
                <a:solidFill>
                  <a:schemeClr val="tx1"/>
                </a:solidFill>
                <a:latin typeface="+mn-lt"/>
                <a:cs typeface="+mn-lt"/>
              </a:rPr>
              <a:t>Александр</a:t>
            </a:r>
            <a:r>
              <a:rPr lang="en-US" altLang="ru-RU" sz="1800">
                <a:solidFill>
                  <a:schemeClr val="tx1"/>
                </a:solidFill>
                <a:latin typeface="+mn-lt"/>
                <a:cs typeface="+mn-lt"/>
              </a:rPr>
              <a:t> 3383</a:t>
            </a:r>
            <a:endParaRPr lang="en-US" altLang="ru-RU" sz="1800">
              <a:solidFill>
                <a:schemeClr val="tx1"/>
              </a:solidFill>
              <a:latin typeface="+mn-lt"/>
              <a:cs typeface="+mn-lt"/>
            </a:endParaRPr>
          </a:p>
          <a:p>
            <a:pPr algn="r"/>
            <a:r>
              <a:rPr lang="en-US" altLang="en-US" sz="1800">
                <a:solidFill>
                  <a:schemeClr val="tx1"/>
                </a:solidFill>
                <a:latin typeface="+mn-lt"/>
                <a:cs typeface="+mn-lt"/>
              </a:rPr>
              <a:t>Скобелев</a:t>
            </a:r>
            <a:r>
              <a:rPr lang="en-US" altLang="ru-RU" sz="1800">
                <a:solidFill>
                  <a:schemeClr val="tx1"/>
                </a:solidFill>
                <a:latin typeface="+mn-lt"/>
                <a:cs typeface="+mn-lt"/>
              </a:rPr>
              <a:t> </a:t>
            </a:r>
            <a:r>
              <a:rPr lang="en-US" altLang="en-US" sz="1800">
                <a:solidFill>
                  <a:schemeClr val="tx1"/>
                </a:solidFill>
                <a:latin typeface="+mn-lt"/>
                <a:cs typeface="+mn-lt"/>
              </a:rPr>
              <a:t>Никита</a:t>
            </a:r>
            <a:r>
              <a:rPr lang="en-US" altLang="ru-RU" sz="1800">
                <a:solidFill>
                  <a:schemeClr val="tx1"/>
                </a:solidFill>
                <a:latin typeface="+mn-lt"/>
                <a:cs typeface="+mn-lt"/>
              </a:rPr>
              <a:t> 3383</a:t>
            </a:r>
            <a:endParaRPr lang="en-US" altLang="ru-RU" sz="1800">
              <a:solidFill>
                <a:schemeClr val="tx1"/>
              </a:solidFill>
              <a:latin typeface="+mn-lt"/>
              <a:cs typeface="+mn-lt"/>
            </a:endParaRPr>
          </a:p>
          <a:p>
            <a:pPr algn="r"/>
            <a:r>
              <a:rPr lang="en-US" altLang="en-US" sz="1800">
                <a:solidFill>
                  <a:schemeClr val="tx1"/>
                </a:solidFill>
                <a:latin typeface="+mn-lt"/>
                <a:cs typeface="+mn-lt"/>
              </a:rPr>
              <a:t>Злобин</a:t>
            </a:r>
            <a:r>
              <a:rPr lang="en-US" altLang="ru-RU" sz="1800">
                <a:solidFill>
                  <a:schemeClr val="tx1"/>
                </a:solidFill>
                <a:latin typeface="+mn-lt"/>
                <a:cs typeface="+mn-lt"/>
              </a:rPr>
              <a:t> </a:t>
            </a:r>
            <a:r>
              <a:rPr lang="en-US" altLang="en-US" sz="1800">
                <a:solidFill>
                  <a:schemeClr val="tx1"/>
                </a:solidFill>
                <a:latin typeface="+mn-lt"/>
                <a:cs typeface="+mn-lt"/>
              </a:rPr>
              <a:t>Иван</a:t>
            </a:r>
            <a:r>
              <a:rPr lang="en-US" altLang="ru-RU" sz="1800">
                <a:solidFill>
                  <a:schemeClr val="tx1"/>
                </a:solidFill>
                <a:latin typeface="+mn-lt"/>
                <a:cs typeface="+mn-lt"/>
              </a:rPr>
              <a:t> 3383</a:t>
            </a:r>
            <a:endParaRPr lang="en-US" altLang="ru-RU" sz="1800">
              <a:solidFill>
                <a:schemeClr val="tx1"/>
              </a:solidFill>
              <a:latin typeface="+mn-lt"/>
              <a:cs typeface="+mn-lt"/>
            </a:endParaRPr>
          </a:p>
          <a:p>
            <a:pPr algn="r"/>
            <a:r>
              <a:rPr lang="en-US" altLang="en-US" sz="1800">
                <a:solidFill>
                  <a:schemeClr val="tx1"/>
                </a:solidFill>
                <a:latin typeface="+mn-lt"/>
                <a:cs typeface="+mn-lt"/>
              </a:rPr>
              <a:t>Боривец</a:t>
            </a:r>
            <a:r>
              <a:rPr lang="en-US" altLang="ru-RU" sz="1800">
                <a:solidFill>
                  <a:schemeClr val="tx1"/>
                </a:solidFill>
                <a:latin typeface="+mn-lt"/>
                <a:cs typeface="+mn-lt"/>
              </a:rPr>
              <a:t> </a:t>
            </a:r>
            <a:r>
              <a:rPr lang="en-US" altLang="en-US" sz="1800">
                <a:solidFill>
                  <a:schemeClr val="tx1"/>
                </a:solidFill>
                <a:latin typeface="+mn-lt"/>
                <a:cs typeface="+mn-lt"/>
              </a:rPr>
              <a:t>Савелий</a:t>
            </a:r>
            <a:r>
              <a:rPr lang="en-US" altLang="ru-RU" sz="1800">
                <a:solidFill>
                  <a:schemeClr val="tx1"/>
                </a:solidFill>
                <a:latin typeface="+mn-lt"/>
                <a:cs typeface="+mn-lt"/>
              </a:rPr>
              <a:t> 3383</a:t>
            </a:r>
            <a:endParaRPr lang="en-US" altLang="ru-RU" sz="1800">
              <a:solidFill>
                <a:schemeClr val="tx1"/>
              </a:solidFill>
              <a:latin typeface="+mn-lt"/>
              <a:cs typeface="+mn-lt"/>
            </a:endParaRPr>
          </a:p>
          <a:p>
            <a:pPr algn="r"/>
            <a:r>
              <a:rPr lang="en-US" altLang="en-US" sz="1800">
                <a:solidFill>
                  <a:schemeClr val="tx1"/>
                </a:solidFill>
                <a:latin typeface="+mn-lt"/>
                <a:cs typeface="+mn-lt"/>
              </a:rPr>
              <a:t>Якушев</a:t>
            </a:r>
            <a:r>
              <a:rPr lang="en-US" altLang="ru-RU" sz="1800">
                <a:solidFill>
                  <a:schemeClr val="tx1"/>
                </a:solidFill>
                <a:latin typeface="+mn-lt"/>
                <a:cs typeface="+mn-lt"/>
              </a:rPr>
              <a:t> </a:t>
            </a:r>
            <a:r>
              <a:rPr lang="en-US" altLang="en-US" sz="1800">
                <a:solidFill>
                  <a:schemeClr val="tx1"/>
                </a:solidFill>
                <a:latin typeface="+mn-lt"/>
                <a:cs typeface="+mn-lt"/>
              </a:rPr>
              <a:t>Петр</a:t>
            </a:r>
            <a:r>
              <a:rPr lang="en-US" altLang="ru-RU" sz="1800">
                <a:solidFill>
                  <a:schemeClr val="tx1"/>
                </a:solidFill>
                <a:latin typeface="+mn-lt"/>
                <a:cs typeface="+mn-lt"/>
              </a:rPr>
              <a:t> 3383</a:t>
            </a:r>
            <a:endParaRPr lang="en-US" altLang="ru-RU" sz="1800">
              <a:solidFill>
                <a:schemeClr val="tx1"/>
              </a:solidFill>
              <a:latin typeface="+mn-lt"/>
              <a:cs typeface="+mn-lt"/>
            </a:endParaRPr>
          </a:p>
          <a:p>
            <a:pPr algn="r"/>
            <a:r>
              <a:rPr lang="en-US" altLang="en-US" sz="1800">
                <a:solidFill>
                  <a:schemeClr val="tx1"/>
                </a:solidFill>
                <a:latin typeface="+mn-lt"/>
                <a:cs typeface="+mn-lt"/>
              </a:rPr>
              <a:t>Кузнецов</a:t>
            </a:r>
            <a:r>
              <a:rPr lang="en-US" altLang="ru-RU" sz="1800">
                <a:solidFill>
                  <a:schemeClr val="tx1"/>
                </a:solidFill>
                <a:latin typeface="+mn-lt"/>
                <a:cs typeface="+mn-lt"/>
              </a:rPr>
              <a:t> </a:t>
            </a:r>
            <a:r>
              <a:rPr lang="en-US" altLang="en-US" sz="1800">
                <a:solidFill>
                  <a:schemeClr val="tx1"/>
                </a:solidFill>
                <a:latin typeface="+mn-lt"/>
                <a:cs typeface="+mn-lt"/>
              </a:rPr>
              <a:t>Николай</a:t>
            </a:r>
            <a:r>
              <a:rPr lang="en-US" altLang="ru-RU" sz="1800">
                <a:solidFill>
                  <a:schemeClr val="tx1"/>
                </a:solidFill>
                <a:latin typeface="+mn-lt"/>
                <a:cs typeface="+mn-lt"/>
              </a:rPr>
              <a:t> 1304</a:t>
            </a:r>
            <a:endParaRPr lang="en-US" altLang="ru-RU" sz="1800">
              <a:solidFill>
                <a:schemeClr val="tx1"/>
              </a:solidFill>
              <a:latin typeface="+mn-lt"/>
              <a:cs typeface="+mn-lt"/>
            </a:endParaRPr>
          </a:p>
          <a:p>
            <a:pPr algn="r"/>
            <a:r>
              <a:rPr lang="ru-RU" altLang="ru-RU" sz="1800">
                <a:solidFill>
                  <a:schemeClr val="tx1"/>
                </a:solidFill>
                <a:latin typeface="+mn-lt"/>
                <a:cs typeface="+mn-lt"/>
              </a:rPr>
              <a:t>Заказчик - Заславский М.М.</a:t>
            </a:r>
            <a:endParaRPr lang="ru-RU" altLang="ru-RU" sz="1800">
              <a:solidFill>
                <a:schemeClr val="tx1"/>
              </a:solidFill>
              <a:latin typeface="+mn-lt"/>
              <a:cs typeface="+mn-lt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524000" y="140335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1524635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Санкт-Петербург, </a:t>
            </a:r>
            <a:r>
              <a:rPr lang="ru-RU" altLang="en-GB" sz="1800"/>
              <a:t>25.02.</a:t>
            </a:r>
            <a:r>
              <a:rPr lang="en-GB" sz="1800"/>
              <a:t>202</a:t>
            </a:r>
            <a:r>
              <a:rPr lang="ru-RU" altLang="en-GB" sz="1800"/>
              <a:t>6</a:t>
            </a:r>
            <a:endParaRPr lang="ru-RU" altLang="en-GB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О проекте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ru-RU">
                <a:solidFill>
                  <a:schemeClr val="tx1"/>
                </a:solidFill>
              </a:rPr>
              <a:t>Ripes - </a:t>
            </a:r>
            <a:r>
              <a:rPr lang="en-US" altLang="en-US">
                <a:solidFill>
                  <a:schemeClr val="tx1"/>
                </a:solidFill>
              </a:rPr>
              <a:t>визуальный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симулятор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компьютерной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архитектуры</a:t>
            </a:r>
            <a:r>
              <a:rPr lang="en-US" altLang="ru-RU">
                <a:solidFill>
                  <a:schemeClr val="tx1"/>
                </a:solidFill>
              </a:rPr>
              <a:t> RISC-V, </a:t>
            </a:r>
            <a:r>
              <a:rPr lang="en-US" altLang="en-US">
                <a:solidFill>
                  <a:schemeClr val="tx1"/>
                </a:solidFill>
              </a:rPr>
              <a:t>предназначенный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для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обучения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и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экспериментов</a:t>
            </a:r>
            <a:r>
              <a:rPr lang="en-US" altLang="ru-RU">
                <a:solidFill>
                  <a:schemeClr val="tx1"/>
                </a:solidFill>
              </a:rPr>
              <a:t>. </a:t>
            </a:r>
            <a:r>
              <a:rPr lang="en-US" altLang="en-US">
                <a:solidFill>
                  <a:schemeClr val="tx1"/>
                </a:solidFill>
              </a:rPr>
              <a:t>Подсистема</a:t>
            </a:r>
            <a:r>
              <a:rPr lang="en-US" altLang="ru-RU">
                <a:solidFill>
                  <a:schemeClr val="tx1"/>
                </a:solidFill>
              </a:rPr>
              <a:t> Memory-Mapped I/O (MMIO) </a:t>
            </a:r>
            <a:r>
              <a:rPr lang="en-US" altLang="en-US">
                <a:solidFill>
                  <a:schemeClr val="tx1"/>
                </a:solidFill>
              </a:rPr>
              <a:t>позволяет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эмулировать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взаимодействие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процессора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с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периферийными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устройствами</a:t>
            </a:r>
            <a:r>
              <a:rPr lang="en-US" altLang="ru-RU">
                <a:solidFill>
                  <a:schemeClr val="tx1"/>
                </a:solidFill>
              </a:rPr>
              <a:t>.</a:t>
            </a:r>
            <a:endParaRPr lang="en-US" altLang="ru-RU">
              <a:solidFill>
                <a:schemeClr val="tx1"/>
              </a:solidFill>
            </a:endParaRPr>
          </a:p>
          <a:p>
            <a:endParaRPr lang="en-US" altLang="ru-RU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Задача</a:t>
            </a:r>
            <a:r>
              <a:rPr lang="en-US" altLang="ru-RU">
                <a:solidFill>
                  <a:schemeClr val="tx1"/>
                </a:solidFill>
              </a:rPr>
              <a:t>: </a:t>
            </a:r>
            <a:r>
              <a:rPr lang="en-US" altLang="en-US">
                <a:solidFill>
                  <a:schemeClr val="tx1"/>
                </a:solidFill>
              </a:rPr>
              <a:t>добавить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новые</a:t>
            </a:r>
            <a:r>
              <a:rPr lang="en-US" altLang="ru-RU">
                <a:solidFill>
                  <a:schemeClr val="tx1"/>
                </a:solidFill>
              </a:rPr>
              <a:t> IO-</a:t>
            </a:r>
            <a:r>
              <a:rPr lang="en-US" altLang="en-US">
                <a:solidFill>
                  <a:schemeClr val="tx1"/>
                </a:solidFill>
              </a:rPr>
              <a:t>устройства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ru-RU" altLang="en-US">
                <a:solidFill>
                  <a:schemeClr val="tx1"/>
                </a:solidFill>
              </a:rPr>
              <a:t>- </a:t>
            </a:r>
            <a:r>
              <a:rPr lang="en-US" altLang="en-US">
                <a:solidFill>
                  <a:schemeClr val="tx1"/>
                </a:solidFill>
              </a:rPr>
              <a:t>мышь</a:t>
            </a:r>
            <a:r>
              <a:rPr lang="en-US" altLang="ru-RU">
                <a:solidFill>
                  <a:schemeClr val="tx1"/>
                </a:solidFill>
              </a:rPr>
              <a:t>, </a:t>
            </a:r>
            <a:r>
              <a:rPr lang="en-US" altLang="en-US">
                <a:solidFill>
                  <a:schemeClr val="tx1"/>
                </a:solidFill>
              </a:rPr>
              <a:t>клавиатура</a:t>
            </a:r>
            <a:r>
              <a:rPr lang="en-US" altLang="ru-RU">
                <a:solidFill>
                  <a:schemeClr val="tx1"/>
                </a:solidFill>
              </a:rPr>
              <a:t>, </a:t>
            </a:r>
            <a:r>
              <a:rPr lang="en-US" altLang="en-US">
                <a:solidFill>
                  <a:schemeClr val="tx1"/>
                </a:solidFill>
              </a:rPr>
              <a:t>семисегментный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индикатор</a:t>
            </a:r>
            <a:endParaRPr lang="en-US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План</a:t>
            </a:r>
            <a:r>
              <a:rPr lang="en-US" altLang="ru-RU"/>
              <a:t> </a:t>
            </a:r>
            <a:r>
              <a:rPr lang="en-US" altLang="en-US"/>
              <a:t>на</a:t>
            </a:r>
            <a:r>
              <a:rPr lang="en-US" altLang="ru-RU"/>
              <a:t> </a:t>
            </a:r>
            <a:r>
              <a:rPr lang="en-US" altLang="en-US"/>
              <a:t>итерацию</a:t>
            </a:r>
            <a:r>
              <a:rPr lang="en-US" altLang="ru-RU"/>
              <a:t> 1</a:t>
            </a:r>
            <a:endParaRPr lang="en-US" alt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982470"/>
            <a:ext cx="10515600" cy="4351338"/>
          </a:xfrm>
        </p:spPr>
        <p:txBody>
          <a:bodyPr/>
          <a:p>
            <a:r>
              <a:rPr lang="ru-RU" altLang="en-US">
                <a:solidFill>
                  <a:schemeClr val="tx1"/>
                </a:solidFill>
              </a:rPr>
              <a:t>1. </a:t>
            </a:r>
            <a:r>
              <a:rPr lang="en-US" altLang="en-US">
                <a:solidFill>
                  <a:schemeClr val="tx1"/>
                </a:solidFill>
              </a:rPr>
              <a:t>Создать</a:t>
            </a:r>
            <a:r>
              <a:rPr lang="en-US" altLang="ru-RU">
                <a:solidFill>
                  <a:schemeClr val="tx1"/>
                </a:solidFill>
              </a:rPr>
              <a:t> wiki-</a:t>
            </a:r>
            <a:r>
              <a:rPr lang="en-US" altLang="en-US">
                <a:solidFill>
                  <a:schemeClr val="tx1"/>
                </a:solidFill>
              </a:rPr>
              <a:t>страницы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проекта</a:t>
            </a:r>
            <a:r>
              <a:rPr lang="en-US" altLang="ru-RU">
                <a:solidFill>
                  <a:schemeClr val="tx1"/>
                </a:solidFill>
              </a:rPr>
              <a:t> (</a:t>
            </a:r>
            <a:r>
              <a:rPr lang="en-US" altLang="en-US">
                <a:solidFill>
                  <a:schemeClr val="tx1"/>
                </a:solidFill>
              </a:rPr>
              <a:t>архитектура</a:t>
            </a:r>
            <a:r>
              <a:rPr lang="en-US" altLang="ru-RU">
                <a:solidFill>
                  <a:schemeClr val="tx1"/>
                </a:solidFill>
              </a:rPr>
              <a:t> IO, </a:t>
            </a:r>
            <a:r>
              <a:rPr lang="en-US" altLang="en-US">
                <a:solidFill>
                  <a:schemeClr val="tx1"/>
                </a:solidFill>
              </a:rPr>
              <a:t>стайл</a:t>
            </a:r>
            <a:r>
              <a:rPr lang="en-US" altLang="ru-RU">
                <a:solidFill>
                  <a:schemeClr val="tx1"/>
                </a:solidFill>
              </a:rPr>
              <a:t>-</a:t>
            </a:r>
            <a:r>
              <a:rPr lang="en-US" altLang="en-US">
                <a:solidFill>
                  <a:schemeClr val="tx1"/>
                </a:solidFill>
              </a:rPr>
              <a:t>гайд</a:t>
            </a:r>
            <a:r>
              <a:rPr lang="en-US" altLang="ru-RU">
                <a:solidFill>
                  <a:schemeClr val="tx1"/>
                </a:solidFill>
              </a:rPr>
              <a:t>, </a:t>
            </a:r>
            <a:r>
              <a:rPr lang="en-US" altLang="en-US">
                <a:solidFill>
                  <a:schemeClr val="tx1"/>
                </a:solidFill>
              </a:rPr>
              <a:t>инструкции</a:t>
            </a:r>
            <a:r>
              <a:rPr lang="en-US" altLang="ru-RU">
                <a:solidFill>
                  <a:schemeClr val="tx1"/>
                </a:solidFill>
              </a:rPr>
              <a:t>)</a:t>
            </a:r>
            <a:endParaRPr lang="en-US" altLang="ru-RU">
              <a:solidFill>
                <a:schemeClr val="tx1"/>
              </a:solidFill>
            </a:endParaRPr>
          </a:p>
          <a:p>
            <a:r>
              <a:rPr lang="ru-RU" altLang="en-US">
                <a:solidFill>
                  <a:schemeClr val="tx1"/>
                </a:solidFill>
              </a:rPr>
              <a:t>2. </a:t>
            </a:r>
            <a:r>
              <a:rPr lang="en-US" altLang="en-US">
                <a:solidFill>
                  <a:schemeClr val="tx1"/>
                </a:solidFill>
              </a:rPr>
              <a:t>Создать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рабочие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прототипы</a:t>
            </a:r>
            <a:r>
              <a:rPr lang="en-US" altLang="ru-RU">
                <a:solidFill>
                  <a:schemeClr val="tx1"/>
                </a:solidFill>
              </a:rPr>
              <a:t> IO-</a:t>
            </a:r>
            <a:r>
              <a:rPr lang="en-US" altLang="en-US">
                <a:solidFill>
                  <a:schemeClr val="tx1"/>
                </a:solidFill>
              </a:rPr>
              <a:t>устройств</a:t>
            </a:r>
            <a:r>
              <a:rPr lang="en-US" altLang="ru-RU">
                <a:solidFill>
                  <a:schemeClr val="tx1"/>
                </a:solidFill>
              </a:rPr>
              <a:t>: </a:t>
            </a:r>
            <a:r>
              <a:rPr lang="en-US" altLang="en-US">
                <a:solidFill>
                  <a:schemeClr val="tx1"/>
                </a:solidFill>
              </a:rPr>
              <a:t>мышь</a:t>
            </a:r>
            <a:r>
              <a:rPr lang="en-US" altLang="ru-RU">
                <a:solidFill>
                  <a:schemeClr val="tx1"/>
                </a:solidFill>
              </a:rPr>
              <a:t>, </a:t>
            </a:r>
            <a:r>
              <a:rPr lang="en-US" altLang="en-US">
                <a:solidFill>
                  <a:schemeClr val="tx1"/>
                </a:solidFill>
              </a:rPr>
              <a:t>клавиатура</a:t>
            </a:r>
            <a:r>
              <a:rPr lang="en-US" altLang="ru-RU">
                <a:solidFill>
                  <a:schemeClr val="tx1"/>
                </a:solidFill>
              </a:rPr>
              <a:t>, </a:t>
            </a:r>
            <a:r>
              <a:rPr lang="en-US" altLang="en-US">
                <a:solidFill>
                  <a:schemeClr val="tx1"/>
                </a:solidFill>
              </a:rPr>
              <a:t>семисегментный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индикатор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ru-RU" altLang="en-US">
                <a:solidFill>
                  <a:schemeClr val="tx1"/>
                </a:solidFill>
              </a:rPr>
              <a:t>3. </a:t>
            </a:r>
            <a:r>
              <a:rPr lang="en-US" altLang="en-US">
                <a:solidFill>
                  <a:schemeClr val="tx1"/>
                </a:solidFill>
              </a:rPr>
              <a:t>Реализовать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тестовые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программы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для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каждого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устройства</a:t>
            </a:r>
            <a:endParaRPr lang="en-US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Результат</a:t>
            </a:r>
            <a:r>
              <a:rPr lang="en-US" altLang="ru-RU"/>
              <a:t>: Wiki-</a:t>
            </a:r>
            <a:r>
              <a:rPr lang="en-US" altLang="en-US"/>
              <a:t>страницы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ru-RU" b="1">
                <a:solidFill>
                  <a:schemeClr val="tx1"/>
                </a:solidFill>
              </a:rPr>
              <a:t>Home </a:t>
            </a:r>
            <a:r>
              <a:rPr lang="en-US" altLang="ru-RU">
                <a:solidFill>
                  <a:schemeClr val="tx1"/>
                </a:solidFill>
              </a:rPr>
              <a:t>— </a:t>
            </a:r>
            <a:r>
              <a:rPr lang="en-US" altLang="en-US">
                <a:solidFill>
                  <a:schemeClr val="tx1"/>
                </a:solidFill>
              </a:rPr>
              <a:t>общее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описание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проекта</a:t>
            </a:r>
            <a:r>
              <a:rPr lang="en-US" altLang="ru-RU">
                <a:solidFill>
                  <a:schemeClr val="tx1"/>
                </a:solidFill>
              </a:rPr>
              <a:t>, </a:t>
            </a:r>
            <a:r>
              <a:rPr lang="en-US" altLang="en-US">
                <a:solidFill>
                  <a:schemeClr val="tx1"/>
                </a:solidFill>
              </a:rPr>
              <a:t>постановка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задачи</a:t>
            </a:r>
            <a:r>
              <a:rPr lang="en-US" altLang="ru-RU">
                <a:solidFill>
                  <a:schemeClr val="tx1"/>
                </a:solidFill>
              </a:rPr>
              <a:t>, </a:t>
            </a:r>
            <a:r>
              <a:rPr lang="en-US" altLang="en-US">
                <a:solidFill>
                  <a:schemeClr val="tx1"/>
                </a:solidFill>
              </a:rPr>
              <a:t>требования</a:t>
            </a:r>
            <a:r>
              <a:rPr lang="en-US" altLang="ru-RU">
                <a:solidFill>
                  <a:schemeClr val="tx1"/>
                </a:solidFill>
              </a:rPr>
              <a:t>, </a:t>
            </a:r>
            <a:r>
              <a:rPr lang="en-US" altLang="en-US">
                <a:solidFill>
                  <a:schemeClr val="tx1"/>
                </a:solidFill>
              </a:rPr>
              <a:t>сценарии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использования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 b="1">
                <a:solidFill>
                  <a:schemeClr val="tx1"/>
                </a:solidFill>
              </a:rPr>
              <a:t>Архитектура</a:t>
            </a:r>
            <a:r>
              <a:rPr lang="en-US" altLang="ru-RU" b="1">
                <a:solidFill>
                  <a:schemeClr val="tx1"/>
                </a:solidFill>
              </a:rPr>
              <a:t> IO </a:t>
            </a:r>
            <a:r>
              <a:rPr lang="en-US" altLang="en-US" b="1">
                <a:solidFill>
                  <a:schemeClr val="tx1"/>
                </a:solidFill>
              </a:rPr>
              <a:t>в</a:t>
            </a:r>
            <a:r>
              <a:rPr lang="en-US" altLang="ru-RU" b="1">
                <a:solidFill>
                  <a:schemeClr val="tx1"/>
                </a:solidFill>
              </a:rPr>
              <a:t> Ripes</a:t>
            </a:r>
            <a:r>
              <a:rPr lang="en-US" altLang="ru-RU">
                <a:solidFill>
                  <a:schemeClr val="tx1"/>
                </a:solidFill>
              </a:rPr>
              <a:t> — </a:t>
            </a:r>
            <a:r>
              <a:rPr lang="en-US" altLang="en-US">
                <a:solidFill>
                  <a:schemeClr val="tx1"/>
                </a:solidFill>
              </a:rPr>
              <a:t>разбор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классов</a:t>
            </a:r>
            <a:r>
              <a:rPr lang="en-US" altLang="ru-RU">
                <a:solidFill>
                  <a:schemeClr val="tx1"/>
                </a:solidFill>
              </a:rPr>
              <a:t> IOBase, IOManager, IORegistry, </a:t>
            </a:r>
            <a:r>
              <a:rPr lang="en-US" altLang="en-US">
                <a:solidFill>
                  <a:schemeClr val="tx1"/>
                </a:solidFill>
              </a:rPr>
              <a:t>механизм</a:t>
            </a:r>
            <a:r>
              <a:rPr lang="en-US" altLang="ru-RU">
                <a:solidFill>
                  <a:schemeClr val="tx1"/>
                </a:solidFill>
              </a:rPr>
              <a:t> MMIO-</a:t>
            </a:r>
            <a:r>
              <a:rPr lang="en-US" altLang="en-US">
                <a:solidFill>
                  <a:schemeClr val="tx1"/>
                </a:solidFill>
              </a:rPr>
              <a:t>регистров</a:t>
            </a:r>
            <a:r>
              <a:rPr lang="en-US" altLang="ru-RU">
                <a:solidFill>
                  <a:schemeClr val="tx1"/>
                </a:solidFill>
              </a:rPr>
              <a:t>, ioRead/ioWrite</a:t>
            </a:r>
            <a:endParaRPr lang="en-US" altLang="ru-RU">
              <a:solidFill>
                <a:schemeClr val="tx1"/>
              </a:solidFill>
            </a:endParaRPr>
          </a:p>
          <a:p>
            <a:r>
              <a:rPr lang="en-US" altLang="en-US" b="1">
                <a:solidFill>
                  <a:schemeClr val="tx1"/>
                </a:solidFill>
              </a:rPr>
              <a:t>Стайл</a:t>
            </a:r>
            <a:r>
              <a:rPr lang="en-US" altLang="ru-RU" b="1">
                <a:solidFill>
                  <a:schemeClr val="tx1"/>
                </a:solidFill>
              </a:rPr>
              <a:t>-</a:t>
            </a:r>
            <a:r>
              <a:rPr lang="en-US" altLang="en-US" b="1">
                <a:solidFill>
                  <a:schemeClr val="tx1"/>
                </a:solidFill>
              </a:rPr>
              <a:t>гайд</a:t>
            </a:r>
            <a:r>
              <a:rPr lang="en-US" altLang="ru-RU" b="1">
                <a:solidFill>
                  <a:schemeClr val="tx1"/>
                </a:solidFill>
              </a:rPr>
              <a:t> </a:t>
            </a:r>
            <a:r>
              <a:rPr lang="en-US" altLang="en-US" b="1">
                <a:solidFill>
                  <a:schemeClr val="tx1"/>
                </a:solidFill>
              </a:rPr>
              <a:t>и</a:t>
            </a:r>
            <a:r>
              <a:rPr lang="en-US" altLang="ru-RU" b="1">
                <a:solidFill>
                  <a:schemeClr val="tx1"/>
                </a:solidFill>
              </a:rPr>
              <a:t> </a:t>
            </a:r>
            <a:r>
              <a:rPr lang="en-US" altLang="en-US" b="1">
                <a:solidFill>
                  <a:schemeClr val="tx1"/>
                </a:solidFill>
              </a:rPr>
              <a:t>рекомендации</a:t>
            </a:r>
            <a:r>
              <a:rPr lang="en-US" altLang="ru-RU">
                <a:solidFill>
                  <a:schemeClr val="tx1"/>
                </a:solidFill>
              </a:rPr>
              <a:t> — </a:t>
            </a:r>
            <a:r>
              <a:rPr lang="en-US" altLang="en-US">
                <a:solidFill>
                  <a:schemeClr val="tx1"/>
                </a:solidFill>
              </a:rPr>
              <a:t>правила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оформления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кода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для</a:t>
            </a:r>
            <a:r>
              <a:rPr lang="en-US" altLang="ru-RU">
                <a:solidFill>
                  <a:schemeClr val="tx1"/>
                </a:solidFill>
              </a:rPr>
              <a:t> upstream PR</a:t>
            </a:r>
            <a:endParaRPr lang="en-US" altLang="ru-RU">
              <a:solidFill>
                <a:schemeClr val="tx1"/>
              </a:solidFill>
            </a:endParaRPr>
          </a:p>
          <a:p>
            <a:r>
              <a:rPr lang="en-US" altLang="ru-RU" b="1">
                <a:solidFill>
                  <a:schemeClr val="tx1"/>
                </a:solidFill>
              </a:rPr>
              <a:t>RISC-V C compiler</a:t>
            </a:r>
            <a:r>
              <a:rPr lang="en-US" altLang="ru-RU">
                <a:solidFill>
                  <a:schemeClr val="tx1"/>
                </a:solidFill>
              </a:rPr>
              <a:t> — </a:t>
            </a:r>
            <a:r>
              <a:rPr lang="en-US" altLang="en-US">
                <a:solidFill>
                  <a:schemeClr val="tx1"/>
                </a:solidFill>
              </a:rPr>
              <a:t>инструкция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по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кросс</a:t>
            </a:r>
            <a:r>
              <a:rPr lang="en-US" altLang="ru-RU">
                <a:solidFill>
                  <a:schemeClr val="tx1"/>
                </a:solidFill>
              </a:rPr>
              <a:t>-</a:t>
            </a:r>
            <a:r>
              <a:rPr lang="en-US" altLang="en-US">
                <a:solidFill>
                  <a:schemeClr val="tx1"/>
                </a:solidFill>
              </a:rPr>
              <a:t>компиляции</a:t>
            </a:r>
            <a:r>
              <a:rPr lang="en-US" altLang="ru-RU">
                <a:solidFill>
                  <a:schemeClr val="tx1"/>
                </a:solidFill>
              </a:rPr>
              <a:t> C-</a:t>
            </a:r>
            <a:r>
              <a:rPr lang="en-US" altLang="en-US">
                <a:solidFill>
                  <a:schemeClr val="tx1"/>
                </a:solidFill>
              </a:rPr>
              <a:t>программ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для</a:t>
            </a:r>
            <a:r>
              <a:rPr lang="en-US" altLang="ru-RU">
                <a:solidFill>
                  <a:schemeClr val="tx1"/>
                </a:solidFill>
              </a:rPr>
              <a:t> RISC-V</a:t>
            </a:r>
            <a:endParaRPr lang="en-US" altLang="ru-RU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en-US" sz="3555"/>
              <a:t>Результат</a:t>
            </a:r>
            <a:r>
              <a:rPr lang="en-US" altLang="ru-RU" sz="3555"/>
              <a:t>: </a:t>
            </a:r>
            <a:r>
              <a:rPr lang="ru-RU" altLang="ru-RU" sz="3555"/>
              <a:t>п</a:t>
            </a:r>
            <a:r>
              <a:rPr lang="en-US" altLang="en-US" sz="3555"/>
              <a:t>рототип</a:t>
            </a:r>
            <a:r>
              <a:rPr lang="en-US" altLang="ru-RU" sz="3555"/>
              <a:t> </a:t>
            </a:r>
            <a:r>
              <a:rPr lang="en-US" altLang="en-US" sz="3555"/>
              <a:t>мыши</a:t>
            </a:r>
            <a:r>
              <a:rPr lang="ru-RU" altLang="en-US" sz="3555"/>
              <a:t>, клавиатуры, </a:t>
            </a:r>
            <a:r>
              <a:rPr lang="en-US" altLang="en-US" sz="3555"/>
              <a:t>семисегментного</a:t>
            </a:r>
            <a:r>
              <a:rPr lang="en-US" altLang="ru-RU" sz="3555"/>
              <a:t> </a:t>
            </a:r>
            <a:r>
              <a:rPr lang="en-US" altLang="en-US" sz="3555"/>
              <a:t>индикатора</a:t>
            </a:r>
            <a:endParaRPr lang="en-US" altLang="en-US" sz="3555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94715" y="2167255"/>
            <a:ext cx="10020300" cy="36671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ru-RU" altLang="en-US" sz="3555"/>
              <a:t>Результат: прогаммы для работы с устройствами</a:t>
            </a:r>
            <a:endParaRPr lang="ru-RU" altLang="en-US" sz="3555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>
                <a:solidFill>
                  <a:schemeClr val="tx1"/>
                </a:solidFill>
              </a:rPr>
              <a:t>1</a:t>
            </a:r>
            <a:r>
              <a:rPr lang="en-US" altLang="en-US">
                <a:solidFill>
                  <a:schemeClr val="tx1"/>
                </a:solidFill>
              </a:rPr>
              <a:t>. </a:t>
            </a:r>
            <a:r>
              <a:rPr lang="ru-RU" altLang="en-US">
                <a:solidFill>
                  <a:schemeClr val="tx1"/>
                </a:solidFill>
              </a:rPr>
              <a:t>Программа выводит на  </a:t>
            </a:r>
            <a:r>
              <a:rPr lang="en-US" altLang="en-US">
                <a:solidFill>
                  <a:schemeClr val="tx1"/>
                </a:solidFill>
              </a:rPr>
              <a:t>LED</a:t>
            </a:r>
            <a:r>
              <a:rPr lang="ru-RU" altLang="en-US">
                <a:solidFill>
                  <a:schemeClr val="tx1"/>
                </a:solidFill>
              </a:rPr>
              <a:t>-монитор символы нажатые на клавиатуре, стирая прошлые и  рисуя следующие</a:t>
            </a:r>
            <a:endParaRPr lang="ru-RU" altLang="en-US">
              <a:solidFill>
                <a:schemeClr val="tx1"/>
              </a:solidFill>
            </a:endParaRPr>
          </a:p>
          <a:p>
            <a:r>
              <a:rPr lang="ru-RU" altLang="en-US">
                <a:solidFill>
                  <a:schemeClr val="tx1"/>
                </a:solidFill>
              </a:rPr>
              <a:t>2. </a:t>
            </a:r>
            <a:r>
              <a:rPr lang="ru-RU" altLang="en-US">
                <a:solidFill>
                  <a:schemeClr val="tx1"/>
                </a:solidFill>
                <a:sym typeface="+mn-ea"/>
              </a:rPr>
              <a:t>Программа выводит на  с</a:t>
            </a:r>
            <a:r>
              <a:rPr lang="en-US" altLang="en-US">
                <a:solidFill>
                  <a:schemeClr val="tx1"/>
                </a:solidFill>
                <a:sym typeface="+mn-ea"/>
              </a:rPr>
              <a:t>емисегментн</a:t>
            </a:r>
            <a:r>
              <a:rPr lang="ru-RU" altLang="en-US">
                <a:solidFill>
                  <a:schemeClr val="tx1"/>
                </a:solidFill>
                <a:sym typeface="+mn-ea"/>
              </a:rPr>
              <a:t>ый</a:t>
            </a:r>
            <a:r>
              <a:rPr lang="en-US" altLang="ru-RU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sym typeface="+mn-ea"/>
              </a:rPr>
              <a:t>индикатор</a:t>
            </a:r>
            <a:r>
              <a:rPr lang="ru-RU" altLang="en-US">
                <a:solidFill>
                  <a:schemeClr val="tx1"/>
                </a:solidFill>
                <a:sym typeface="+mn-ea"/>
              </a:rPr>
              <a:t> символы нажатые на клавиатуре, заполняя по очереди все регистры, при заполенении - начинает сначала</a:t>
            </a:r>
            <a:endParaRPr lang="ru-RU" altLang="en-US">
              <a:solidFill>
                <a:schemeClr val="tx1"/>
              </a:solidFill>
              <a:sym typeface="+mn-ea"/>
            </a:endParaRPr>
          </a:p>
          <a:p>
            <a:r>
              <a:rPr lang="ru-RU" altLang="en-US">
                <a:solidFill>
                  <a:schemeClr val="tx1"/>
                </a:solidFill>
                <a:sym typeface="+mn-ea"/>
              </a:rPr>
              <a:t>3. При нажатой пкм рисует линию по траетории курсора на </a:t>
            </a:r>
            <a:r>
              <a:rPr lang="en-US" altLang="en-US">
                <a:solidFill>
                  <a:schemeClr val="tx1"/>
                </a:solidFill>
                <a:sym typeface="+mn-ea"/>
              </a:rPr>
              <a:t>LED-</a:t>
            </a:r>
            <a:r>
              <a:rPr lang="ru-RU" altLang="en-US">
                <a:solidFill>
                  <a:schemeClr val="tx1"/>
                </a:solidFill>
                <a:sym typeface="+mn-ea"/>
              </a:rPr>
              <a:t>мониторе,  при нажатой лкм стирает по тракетории, на колесо мыши цикличная смена цвета красный-зеленый-синий</a:t>
            </a:r>
            <a:endParaRPr lang="ru-RU" altLang="en-US">
              <a:solidFill>
                <a:schemeClr val="tx1"/>
              </a:solidFill>
            </a:endParaRPr>
          </a:p>
          <a:p>
            <a:endParaRPr lang="ru-RU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План на итерацию 2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ru-RU">
                <a:solidFill>
                  <a:schemeClr val="tx1"/>
                </a:solidFill>
              </a:rPr>
              <a:t>1. </a:t>
            </a:r>
            <a:r>
              <a:rPr lang="en-US" altLang="en-US">
                <a:solidFill>
                  <a:schemeClr val="tx1"/>
                </a:solidFill>
              </a:rPr>
              <a:t>Реализовать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мышь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согласно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стайл</a:t>
            </a:r>
            <a:r>
              <a:rPr lang="en-US" altLang="ru-RU">
                <a:solidFill>
                  <a:schemeClr val="tx1"/>
                </a:solidFill>
              </a:rPr>
              <a:t>-</a:t>
            </a:r>
            <a:r>
              <a:rPr lang="en-US" altLang="en-US">
                <a:solidFill>
                  <a:schemeClr val="tx1"/>
                </a:solidFill>
              </a:rPr>
              <a:t>гайду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и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всем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требованиям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ru-RU">
                <a:solidFill>
                  <a:schemeClr val="tx1"/>
                </a:solidFill>
              </a:rPr>
              <a:t>2. </a:t>
            </a:r>
            <a:r>
              <a:rPr lang="en-US" altLang="en-US">
                <a:solidFill>
                  <a:schemeClr val="tx1"/>
                </a:solidFill>
              </a:rPr>
              <a:t>Реализовать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клавиатуру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согласно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стайл</a:t>
            </a:r>
            <a:r>
              <a:rPr lang="en-US" altLang="ru-RU">
                <a:solidFill>
                  <a:schemeClr val="tx1"/>
                </a:solidFill>
              </a:rPr>
              <a:t>-</a:t>
            </a:r>
            <a:r>
              <a:rPr lang="en-US" altLang="en-US">
                <a:solidFill>
                  <a:schemeClr val="tx1"/>
                </a:solidFill>
              </a:rPr>
              <a:t>гайду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и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всем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требованиям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ru-RU">
                <a:solidFill>
                  <a:schemeClr val="tx1"/>
                </a:solidFill>
              </a:rPr>
              <a:t>3. </a:t>
            </a:r>
            <a:r>
              <a:rPr lang="en-US" altLang="en-US">
                <a:solidFill>
                  <a:schemeClr val="tx1"/>
                </a:solidFill>
              </a:rPr>
              <a:t>Реализовать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емисегментный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индикатор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согласно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стайл</a:t>
            </a:r>
            <a:r>
              <a:rPr lang="en-US" altLang="ru-RU">
                <a:solidFill>
                  <a:schemeClr val="tx1"/>
                </a:solidFill>
              </a:rPr>
              <a:t>-</a:t>
            </a:r>
            <a:r>
              <a:rPr lang="en-US" altLang="en-US">
                <a:solidFill>
                  <a:schemeClr val="tx1"/>
                </a:solidFill>
              </a:rPr>
              <a:t>гайду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и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всем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требованиям</a:t>
            </a:r>
            <a:endParaRPr lang="en-US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668020"/>
          </a:xfrm>
        </p:spPr>
        <p:txBody>
          <a:bodyPr/>
          <a:p>
            <a:r>
              <a:rPr lang="ru-RU" altLang="en-US" sz="3600"/>
              <a:t>Статистика итерации 1</a:t>
            </a:r>
            <a:endParaRPr lang="ru-RU" altLang="en-US" sz="3600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825625"/>
            <a:ext cx="6238875" cy="4351655"/>
          </a:xfrm>
        </p:spPr>
        <p:txBody>
          <a:bodyPr/>
          <a:p>
            <a:pPr algn="l"/>
            <a:r>
              <a:rPr lang="en-US" altLang="en-US" sz="2400" b="1">
                <a:solidFill>
                  <a:schemeClr val="tx1"/>
                </a:solidFill>
                <a:latin typeface="+mn-lt"/>
                <a:cs typeface="+mn-lt"/>
                <a:sym typeface="+mn-ea"/>
              </a:rPr>
              <a:t>Галкин</a:t>
            </a:r>
            <a:r>
              <a:rPr lang="en-US" altLang="ru-RU" sz="2400" b="1">
                <a:solidFill>
                  <a:schemeClr val="tx1"/>
                </a:solidFill>
                <a:latin typeface="+mn-lt"/>
                <a:cs typeface="+mn-lt"/>
                <a:sym typeface="+mn-ea"/>
              </a:rPr>
              <a:t> </a:t>
            </a:r>
            <a:r>
              <a:rPr lang="en-US" altLang="en-US" sz="2400" b="1">
                <a:solidFill>
                  <a:schemeClr val="tx1"/>
                </a:solidFill>
                <a:latin typeface="+mn-lt"/>
                <a:cs typeface="+mn-lt"/>
                <a:sym typeface="+mn-ea"/>
              </a:rPr>
              <a:t>Александр</a:t>
            </a:r>
            <a:r>
              <a:rPr lang="en-US" altLang="ru-RU" sz="2400">
                <a:solidFill>
                  <a:schemeClr val="tx1"/>
                </a:solidFill>
                <a:latin typeface="+mn-lt"/>
                <a:cs typeface="+mn-lt"/>
                <a:sym typeface="+mn-ea"/>
              </a:rPr>
              <a:t> 3383</a:t>
            </a:r>
            <a:r>
              <a:rPr lang="ru-RU" altLang="en-US" sz="2400">
                <a:solidFill>
                  <a:schemeClr val="tx1"/>
                </a:solidFill>
                <a:latin typeface="+mn-lt"/>
                <a:cs typeface="+mn-lt"/>
                <a:sym typeface="+mn-ea"/>
              </a:rPr>
              <a:t> - 2 коммита, 1 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  <a:sym typeface="+mn-ea"/>
              </a:rPr>
              <a:t>PR</a:t>
            </a:r>
            <a:r>
              <a:rPr lang="ru-RU" altLang="en-US" sz="2400">
                <a:solidFill>
                  <a:schemeClr val="tx1"/>
                </a:solidFill>
                <a:latin typeface="+mn-lt"/>
                <a:cs typeface="+mn-lt"/>
                <a:sym typeface="+mn-ea"/>
              </a:rPr>
              <a:t>, 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  <a:sym typeface="+mn-ea"/>
              </a:rPr>
              <a:t>1 </a:t>
            </a:r>
            <a:r>
              <a:rPr lang="en-US" altLang="ru-RU" sz="2400">
                <a:solidFill>
                  <a:schemeClr val="tx1"/>
                </a:solidFill>
                <a:latin typeface="+mn-lt"/>
                <a:cs typeface="+mn-lt"/>
                <a:sym typeface="+mn-ea"/>
              </a:rPr>
              <a:t>wiki</a:t>
            </a:r>
            <a:r>
              <a:rPr lang="ru-RU" altLang="en-US" sz="2400">
                <a:solidFill>
                  <a:schemeClr val="tx1"/>
                </a:solidFill>
                <a:latin typeface="+mn-lt"/>
                <a:cs typeface="+mn-lt"/>
                <a:sym typeface="+mn-ea"/>
              </a:rPr>
              <a:t>-страница</a:t>
            </a:r>
            <a:endParaRPr lang="en-US" altLang="ru-RU" sz="2400">
              <a:solidFill>
                <a:schemeClr val="tx1"/>
              </a:solidFill>
              <a:latin typeface="+mn-lt"/>
              <a:cs typeface="+mn-lt"/>
            </a:endParaRPr>
          </a:p>
          <a:p>
            <a:pPr algn="l"/>
            <a:r>
              <a:rPr lang="en-US" altLang="en-US" sz="2400" b="1">
                <a:solidFill>
                  <a:schemeClr val="tx1"/>
                </a:solidFill>
                <a:latin typeface="+mn-lt"/>
                <a:cs typeface="+mn-lt"/>
                <a:sym typeface="+mn-ea"/>
              </a:rPr>
              <a:t>Скобелев</a:t>
            </a:r>
            <a:r>
              <a:rPr lang="en-US" altLang="ru-RU" sz="2400" b="1">
                <a:solidFill>
                  <a:schemeClr val="tx1"/>
                </a:solidFill>
                <a:latin typeface="+mn-lt"/>
                <a:cs typeface="+mn-lt"/>
                <a:sym typeface="+mn-ea"/>
              </a:rPr>
              <a:t> </a:t>
            </a:r>
            <a:r>
              <a:rPr lang="en-US" altLang="en-US" sz="2400" b="1">
                <a:solidFill>
                  <a:schemeClr val="tx1"/>
                </a:solidFill>
                <a:latin typeface="+mn-lt"/>
                <a:cs typeface="+mn-lt"/>
                <a:sym typeface="+mn-ea"/>
              </a:rPr>
              <a:t>Никита</a:t>
            </a:r>
            <a:r>
              <a:rPr lang="en-US" altLang="ru-RU" sz="2400">
                <a:solidFill>
                  <a:schemeClr val="tx1"/>
                </a:solidFill>
                <a:latin typeface="+mn-lt"/>
                <a:cs typeface="+mn-lt"/>
                <a:sym typeface="+mn-ea"/>
              </a:rPr>
              <a:t> 3383 - 1</a:t>
            </a:r>
            <a:r>
              <a:rPr lang="ru-RU" altLang="en-US" sz="2400">
                <a:solidFill>
                  <a:schemeClr val="tx1"/>
                </a:solidFill>
                <a:latin typeface="+mn-lt"/>
                <a:cs typeface="+mn-lt"/>
                <a:sym typeface="+mn-ea"/>
              </a:rPr>
              <a:t> коммит, 1 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  <a:sym typeface="+mn-ea"/>
              </a:rPr>
              <a:t>PR</a:t>
            </a:r>
            <a:r>
              <a:rPr lang="ru-RU" altLang="en-US" sz="2400">
                <a:solidFill>
                  <a:schemeClr val="tx1"/>
                </a:solidFill>
                <a:latin typeface="+mn-lt"/>
                <a:cs typeface="+mn-lt"/>
                <a:sym typeface="+mn-ea"/>
              </a:rPr>
              <a:t>, 1 </a:t>
            </a:r>
            <a:r>
              <a:rPr lang="en-US" altLang="ru-RU" sz="2400">
                <a:solidFill>
                  <a:schemeClr val="tx1"/>
                </a:solidFill>
                <a:latin typeface="+mn-lt"/>
                <a:cs typeface="+mn-lt"/>
                <a:sym typeface="+mn-ea"/>
              </a:rPr>
              <a:t>wiki</a:t>
            </a:r>
            <a:r>
              <a:rPr lang="ru-RU" altLang="en-US" sz="2400">
                <a:solidFill>
                  <a:schemeClr val="tx1"/>
                </a:solidFill>
                <a:latin typeface="+mn-lt"/>
                <a:cs typeface="+mn-lt"/>
                <a:sym typeface="+mn-ea"/>
              </a:rPr>
              <a:t>-страница</a:t>
            </a:r>
            <a:endParaRPr lang="en-US" altLang="ru-RU" sz="2400">
              <a:solidFill>
                <a:schemeClr val="tx1"/>
              </a:solidFill>
              <a:latin typeface="+mn-lt"/>
              <a:cs typeface="+mn-lt"/>
            </a:endParaRPr>
          </a:p>
          <a:p>
            <a:pPr algn="l"/>
            <a:r>
              <a:rPr lang="en-US" altLang="en-US" sz="2400" b="1">
                <a:solidFill>
                  <a:schemeClr val="tx1"/>
                </a:solidFill>
                <a:latin typeface="+mn-lt"/>
                <a:cs typeface="+mn-lt"/>
                <a:sym typeface="+mn-ea"/>
              </a:rPr>
              <a:t>Злобин</a:t>
            </a:r>
            <a:r>
              <a:rPr lang="en-US" altLang="ru-RU" sz="2400" b="1">
                <a:solidFill>
                  <a:schemeClr val="tx1"/>
                </a:solidFill>
                <a:latin typeface="+mn-lt"/>
                <a:cs typeface="+mn-lt"/>
                <a:sym typeface="+mn-ea"/>
              </a:rPr>
              <a:t> </a:t>
            </a:r>
            <a:r>
              <a:rPr lang="en-US" altLang="en-US" sz="2400" b="1">
                <a:solidFill>
                  <a:schemeClr val="tx1"/>
                </a:solidFill>
                <a:latin typeface="+mn-lt"/>
                <a:cs typeface="+mn-lt"/>
                <a:sym typeface="+mn-ea"/>
              </a:rPr>
              <a:t>Иван</a:t>
            </a:r>
            <a:r>
              <a:rPr lang="en-US" altLang="ru-RU" sz="2400" b="1">
                <a:solidFill>
                  <a:schemeClr val="tx1"/>
                </a:solidFill>
                <a:latin typeface="+mn-lt"/>
                <a:cs typeface="+mn-lt"/>
                <a:sym typeface="+mn-ea"/>
              </a:rPr>
              <a:t> 3383</a:t>
            </a:r>
            <a:r>
              <a:rPr lang="en-US" altLang="ru-RU" sz="2400">
                <a:solidFill>
                  <a:schemeClr val="tx1"/>
                </a:solidFill>
                <a:latin typeface="+mn-lt"/>
                <a:cs typeface="+mn-lt"/>
                <a:sym typeface="+mn-ea"/>
              </a:rPr>
              <a:t> - </a:t>
            </a:r>
            <a:r>
              <a:rPr lang="ru-RU" altLang="en-US" sz="2400">
                <a:solidFill>
                  <a:schemeClr val="tx1"/>
                </a:solidFill>
                <a:latin typeface="+mn-lt"/>
                <a:cs typeface="+mn-lt"/>
                <a:sym typeface="+mn-ea"/>
              </a:rPr>
              <a:t>2 коммита, 1 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  <a:sym typeface="+mn-ea"/>
              </a:rPr>
              <a:t>PR</a:t>
            </a:r>
            <a:endParaRPr lang="en-US" altLang="ru-RU" sz="2400">
              <a:solidFill>
                <a:schemeClr val="tx1"/>
              </a:solidFill>
              <a:latin typeface="+mn-lt"/>
              <a:cs typeface="+mn-lt"/>
            </a:endParaRPr>
          </a:p>
          <a:p>
            <a:pPr algn="l"/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  <a:sym typeface="+mn-ea"/>
              </a:rPr>
              <a:t>Боривец</a:t>
            </a:r>
            <a:r>
              <a:rPr lang="en-US" altLang="ru-RU" sz="2400">
                <a:solidFill>
                  <a:schemeClr val="tx1"/>
                </a:solidFill>
                <a:latin typeface="+mn-lt"/>
                <a:cs typeface="+mn-lt"/>
                <a:sym typeface="+mn-ea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  <a:sym typeface="+mn-ea"/>
              </a:rPr>
              <a:t>Савелий</a:t>
            </a:r>
            <a:r>
              <a:rPr lang="en-US" altLang="ru-RU" sz="2400">
                <a:solidFill>
                  <a:schemeClr val="tx1"/>
                </a:solidFill>
                <a:latin typeface="+mn-lt"/>
                <a:cs typeface="+mn-lt"/>
                <a:sym typeface="+mn-ea"/>
              </a:rPr>
              <a:t> 3383 - 1</a:t>
            </a:r>
            <a:r>
              <a:rPr lang="ru-RU" altLang="en-US" sz="2400">
                <a:solidFill>
                  <a:schemeClr val="tx1"/>
                </a:solidFill>
                <a:latin typeface="+mn-lt"/>
                <a:cs typeface="+mn-lt"/>
                <a:sym typeface="+mn-ea"/>
              </a:rPr>
              <a:t> коммит, 1 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  <a:sym typeface="+mn-ea"/>
              </a:rPr>
              <a:t>PR</a:t>
            </a:r>
            <a:endParaRPr lang="en-US" altLang="ru-RU" sz="2400">
              <a:solidFill>
                <a:schemeClr val="tx1"/>
              </a:solidFill>
              <a:latin typeface="+mn-lt"/>
              <a:cs typeface="+mn-lt"/>
            </a:endParaRPr>
          </a:p>
          <a:p>
            <a:pPr algn="l"/>
            <a:r>
              <a:rPr lang="en-US" altLang="en-US" sz="2400" b="1">
                <a:solidFill>
                  <a:schemeClr val="tx1"/>
                </a:solidFill>
                <a:latin typeface="+mn-lt"/>
                <a:cs typeface="+mn-lt"/>
                <a:sym typeface="+mn-ea"/>
              </a:rPr>
              <a:t>Якушев</a:t>
            </a:r>
            <a:r>
              <a:rPr lang="en-US" altLang="ru-RU" sz="2400" b="1">
                <a:solidFill>
                  <a:schemeClr val="tx1"/>
                </a:solidFill>
                <a:latin typeface="+mn-lt"/>
                <a:cs typeface="+mn-lt"/>
                <a:sym typeface="+mn-ea"/>
              </a:rPr>
              <a:t> </a:t>
            </a:r>
            <a:r>
              <a:rPr lang="en-US" altLang="en-US" sz="2400" b="1">
                <a:solidFill>
                  <a:schemeClr val="tx1"/>
                </a:solidFill>
                <a:latin typeface="+mn-lt"/>
                <a:cs typeface="+mn-lt"/>
                <a:sym typeface="+mn-ea"/>
              </a:rPr>
              <a:t>Петр</a:t>
            </a:r>
            <a:r>
              <a:rPr lang="en-US" altLang="ru-RU" sz="2400" b="1">
                <a:solidFill>
                  <a:schemeClr val="tx1"/>
                </a:solidFill>
                <a:latin typeface="+mn-lt"/>
                <a:cs typeface="+mn-lt"/>
                <a:sym typeface="+mn-ea"/>
              </a:rPr>
              <a:t> 3383</a:t>
            </a:r>
            <a:r>
              <a:rPr lang="en-US" altLang="ru-RU" sz="2400">
                <a:solidFill>
                  <a:schemeClr val="tx1"/>
                </a:solidFill>
                <a:latin typeface="+mn-lt"/>
                <a:cs typeface="+mn-lt"/>
                <a:sym typeface="+mn-ea"/>
              </a:rPr>
              <a:t> - </a:t>
            </a:r>
            <a:r>
              <a:rPr lang="ru-RU" altLang="en-US" sz="2400">
                <a:solidFill>
                  <a:schemeClr val="tx1"/>
                </a:solidFill>
                <a:latin typeface="+mn-lt"/>
                <a:cs typeface="+mn-lt"/>
                <a:sym typeface="+mn-ea"/>
              </a:rPr>
              <a:t>2 коммита, 1 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  <a:sym typeface="+mn-ea"/>
              </a:rPr>
              <a:t>PR</a:t>
            </a:r>
            <a:endParaRPr lang="en-US" altLang="ru-RU" sz="2400">
              <a:solidFill>
                <a:schemeClr val="tx1"/>
              </a:solidFill>
              <a:latin typeface="+mn-lt"/>
              <a:cs typeface="+mn-lt"/>
            </a:endParaRPr>
          </a:p>
          <a:p>
            <a:pPr algn="l"/>
            <a:r>
              <a:rPr lang="en-US" altLang="en-US" sz="2400" b="1">
                <a:solidFill>
                  <a:schemeClr val="tx1"/>
                </a:solidFill>
                <a:latin typeface="+mn-lt"/>
                <a:cs typeface="+mn-lt"/>
                <a:sym typeface="+mn-ea"/>
              </a:rPr>
              <a:t>Кузнецов</a:t>
            </a:r>
            <a:r>
              <a:rPr lang="en-US" altLang="ru-RU" sz="2400" b="1">
                <a:solidFill>
                  <a:schemeClr val="tx1"/>
                </a:solidFill>
                <a:latin typeface="+mn-lt"/>
                <a:cs typeface="+mn-lt"/>
                <a:sym typeface="+mn-ea"/>
              </a:rPr>
              <a:t> </a:t>
            </a:r>
            <a:r>
              <a:rPr lang="en-US" altLang="en-US" sz="2400" b="1">
                <a:solidFill>
                  <a:schemeClr val="tx1"/>
                </a:solidFill>
                <a:latin typeface="+mn-lt"/>
                <a:cs typeface="+mn-lt"/>
                <a:sym typeface="+mn-ea"/>
              </a:rPr>
              <a:t>Николай</a:t>
            </a:r>
            <a:r>
              <a:rPr lang="en-US" altLang="ru-RU" sz="2400" b="1">
                <a:solidFill>
                  <a:schemeClr val="tx1"/>
                </a:solidFill>
                <a:latin typeface="+mn-lt"/>
                <a:cs typeface="+mn-lt"/>
                <a:sym typeface="+mn-ea"/>
              </a:rPr>
              <a:t> 1304</a:t>
            </a:r>
            <a:r>
              <a:rPr lang="en-US" altLang="ru-RU" sz="2400">
                <a:solidFill>
                  <a:schemeClr val="tx1"/>
                </a:solidFill>
                <a:latin typeface="+mn-lt"/>
                <a:cs typeface="+mn-lt"/>
                <a:sym typeface="+mn-ea"/>
              </a:rPr>
              <a:t> - </a:t>
            </a:r>
            <a:r>
              <a:rPr lang="ru-RU" altLang="en-US" sz="2400">
                <a:solidFill>
                  <a:schemeClr val="tx1"/>
                </a:solidFill>
                <a:latin typeface="+mn-lt"/>
                <a:cs typeface="+mn-lt"/>
                <a:sym typeface="+mn-ea"/>
              </a:rPr>
              <a:t>2 коммита, </a:t>
            </a:r>
            <a:r>
              <a:rPr lang="en-US" altLang="ru-RU" sz="2400">
                <a:solidFill>
                  <a:schemeClr val="tx1"/>
                </a:solidFill>
                <a:latin typeface="+mn-lt"/>
                <a:cs typeface="+mn-lt"/>
                <a:sym typeface="+mn-ea"/>
              </a:rPr>
              <a:t>5 review</a:t>
            </a:r>
            <a:r>
              <a:rPr lang="ru-RU" altLang="en-US" sz="2400">
                <a:solidFill>
                  <a:schemeClr val="tx1"/>
                </a:solidFill>
                <a:latin typeface="+mn-lt"/>
                <a:cs typeface="+mn-lt"/>
                <a:sym typeface="+mn-ea"/>
              </a:rPr>
              <a:t>, 2 </a:t>
            </a:r>
            <a:r>
              <a:rPr lang="en-US" altLang="ru-RU" sz="2400">
                <a:solidFill>
                  <a:schemeClr val="tx1"/>
                </a:solidFill>
                <a:latin typeface="+mn-lt"/>
                <a:cs typeface="+mn-lt"/>
                <a:sym typeface="+mn-ea"/>
              </a:rPr>
              <a:t>wiki</a:t>
            </a:r>
            <a:r>
              <a:rPr lang="ru-RU" altLang="en-US" sz="2400">
                <a:solidFill>
                  <a:schemeClr val="tx1"/>
                </a:solidFill>
                <a:latin typeface="+mn-lt"/>
                <a:cs typeface="+mn-lt"/>
                <a:sym typeface="+mn-ea"/>
              </a:rPr>
              <a:t>-страницы</a:t>
            </a:r>
            <a:endParaRPr lang="ru-RU" altLang="en-US" sz="2400">
              <a:solidFill>
                <a:schemeClr val="tx1"/>
              </a:solidFill>
              <a:latin typeface="+mn-lt"/>
              <a:cs typeface="+mn-lt"/>
              <a:sym typeface="+mn-ea"/>
            </a:endParaRP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1050" y="1101090"/>
            <a:ext cx="4750435" cy="5521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2221</Words>
  <Application>WPS Presentation</Application>
  <PresentationFormat>宽屏</PresentationFormat>
  <Paragraphs>58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n1ck111555111</cp:lastModifiedBy>
  <cp:revision>4</cp:revision>
  <dcterms:created xsi:type="dcterms:W3CDTF">2025-07-23T00:59:00Z</dcterms:created>
  <dcterms:modified xsi:type="dcterms:W3CDTF">2026-02-25T16:28:44Z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1049-12.2.0.23196</vt:lpwstr>
  </property>
  <property fmtid="{D5CDD505-2E9C-101B-9397-08002B2CF9AE}" pid="3" name="ICV">
    <vt:lpwstr>60F9A01E2F73458594BB4CA24376C3BB_11</vt:lpwstr>
  </property>
</Properties>
</file>